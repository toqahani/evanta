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48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926080" y="4846320"/>
            <a:ext cx="5029200" cy="5029200"/>
          </a:xfrm>
          <a:prstGeom prst="ellipse">
            <a:avLst/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498848" y="502920"/>
            <a:ext cx="3200400" cy="2907792"/>
          </a:xfrm>
          <a:prstGeom prst="roundRect">
            <a:avLst>
              <a:gd name="adj" fmla="val 3774"/>
            </a:avLst>
          </a:prstGeom>
          <a:solidFill>
            <a:srgbClr val="F3E7D6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621792"/>
            <a:ext cx="2926080" cy="2670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6118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400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EVANTA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31596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ذكية لتنظيم وإدارة الفعاليات من مكان واحد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27448" y="4956048"/>
            <a:ext cx="2743200" cy="0"/>
          </a:xfrm>
          <a:prstGeom prst="line">
            <a:avLst/>
          </a:prstGeom>
          <a:noFill/>
          <a:ln w="1587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الفريق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606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606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مريم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0342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70342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دعاء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4078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44078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أحمد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814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17814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تقي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1550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91550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شهد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52864" y="5486400"/>
            <a:ext cx="1572768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652864" y="54864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محمود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704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أي فعالية عادةً ما يتطلب إدارة عدة أمور في نفس الوقت: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396935" y="16916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957255" y="189738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957255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34095" y="1691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الضيوف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22215" y="16916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82535" y="189738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482535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59375" y="1691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 والمصروفات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447495" y="16916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07815" y="189738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007815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84655" y="1691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والمواعيد النهائية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396935" y="2788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957255" y="299466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957255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34095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 ومقدمو الخدمات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922215" y="2788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82535" y="299466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482535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059375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الدعوات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1447495" y="2788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007815" y="2994660"/>
            <a:ext cx="457200" cy="45720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007815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584655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ردود الحضور (RSVP)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7033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يلجأ كثير من الناس لاستخدام أدوات متفرقة مثل واتساب والملاحظات وإكسل ومواقع التواصل لإدارة كل ذلك، وهو ما يؤدي إلى: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251960"/>
            <a:ext cx="9509760" cy="868680"/>
          </a:xfrm>
          <a:prstGeom prst="roundRect">
            <a:avLst>
              <a:gd name="adj" fmla="val 12632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42519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معلومات مبعثرة  ←  صعوبة في المتابعة  ←  مهام ضائعة  ←  ارتباك في الميزانية  ←  تنظيم ضعيف للفعالية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9509760" cy="1417320"/>
          </a:xfrm>
          <a:prstGeom prst="roundRect">
            <a:avLst>
              <a:gd name="adj" fmla="val 7742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68680" y="1371600"/>
            <a:ext cx="8869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5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توفّر EVANTA منصة واحدة مركزية لإدارة الفعاليات بالكامل.</a:t>
            </a:r>
            <a:endParaRPr lang="en-US" sz="1550" dirty="0"/>
          </a:p>
          <a:p>
            <a:pPr marL="0" indent="0" algn="r">
              <a:lnSpc>
                <a:spcPct val="125000"/>
              </a:lnSpc>
              <a:buNone/>
            </a:pPr>
            <a:r>
              <a:rPr lang="en-US" sz="15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بدلًا من التنقل بين أدوات متعددة، يستطيع المستخدم إدارة فعاليته بالكامل من مكان واحد.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9509760" cy="960120"/>
          </a:xfrm>
          <a:prstGeom prst="roundRect">
            <a:avLst>
              <a:gd name="adj" fmla="val 11429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فعالية واحدة  ←  منصة واحدة  ←  كل شيء منظم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الفعاليات المدعومة حاليًا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887407" y="4617720"/>
            <a:ext cx="1755648" cy="777240"/>
          </a:xfrm>
          <a:prstGeom prst="roundRect">
            <a:avLst>
              <a:gd name="adj" fmla="val 14118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933127" y="46177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أعياد الميلاد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48879" y="4617720"/>
            <a:ext cx="1755648" cy="777240"/>
          </a:xfrm>
          <a:prstGeom prst="roundRect">
            <a:avLst>
              <a:gd name="adj" fmla="val 14118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994599" y="46177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الخطوبة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10351" y="4617720"/>
            <a:ext cx="1755648" cy="777240"/>
          </a:xfrm>
          <a:prstGeom prst="roundRect">
            <a:avLst>
              <a:gd name="adj" fmla="val 14118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056071" y="46177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الزفاف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71823" y="4617720"/>
            <a:ext cx="1755648" cy="777240"/>
          </a:xfrm>
          <a:prstGeom prst="roundRect">
            <a:avLst>
              <a:gd name="adj" fmla="val 14118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117543" y="46177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التخرج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133295" y="4617720"/>
            <a:ext cx="1755648" cy="777240"/>
          </a:xfrm>
          <a:prstGeom prst="roundRect">
            <a:avLst>
              <a:gd name="adj" fmla="val 14118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179015" y="46177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المولود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يستخدم EVANTA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المستهدفة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396935" y="14173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888675" y="1691640"/>
            <a:ext cx="502920" cy="50292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888675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34095" y="1417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الأشخاص الذين ينظمون فعالياتهم الشخصية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22215" y="14173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13955" y="1691640"/>
            <a:ext cx="502920" cy="50292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413955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59375" y="1417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منظمو حفلات الزفاف والخطوبة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447495" y="14173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939235" y="1691640"/>
            <a:ext cx="502920" cy="50292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939235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84655" y="1417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منظمو حفلات أعياد الميلاد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396935" y="26974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888675" y="2971800"/>
            <a:ext cx="502920" cy="50292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888675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34095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منظمو حفلات التخرج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922215" y="26974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413955" y="2971800"/>
            <a:ext cx="502920" cy="50292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413955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059375" y="2697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منظمو حفلات استقبال المولود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9509760" cy="777240"/>
          </a:xfrm>
          <a:prstGeom prst="roundRect">
            <a:avLst>
              <a:gd name="adj" fmla="val 14118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22960" y="50749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ومستقبلًا يمكن أن تُستخدم المنصة من قِبل منظمي الفعاليات المحترفين والشركات.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 المنصة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المستخدم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87407" y="141732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960559" y="141732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 / إنشاء حساب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722815" y="14173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85455" y="141732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58607" y="141732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الفعالية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20863" y="14173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83503" y="141732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156655" y="141732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نوع الفعالية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18911" y="14173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81551" y="141732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254703" y="141732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الذكية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016959" y="14173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279599" y="141732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3D2817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2352751" y="141732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الفعالية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279599" y="248716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496416" y="288036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1496416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الضيوف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846424" y="288036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846424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96432" y="288036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196432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6440" y="288036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54644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181448" y="3584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430207" y="3950208"/>
            <a:ext cx="2212848" cy="777240"/>
          </a:xfrm>
          <a:prstGeom prst="roundRect">
            <a:avLst>
              <a:gd name="adj" fmla="val 14118"/>
            </a:avLst>
          </a:prstGeom>
          <a:solidFill>
            <a:srgbClr val="B8862F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475927" y="395020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الدعوة الرقمية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229039" y="3950208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034479" y="3950208"/>
            <a:ext cx="2212848" cy="777240"/>
          </a:xfrm>
          <a:prstGeom prst="roundRect">
            <a:avLst>
              <a:gd name="adj" fmla="val 14118"/>
            </a:avLst>
          </a:prstGeom>
          <a:solidFill>
            <a:srgbClr val="B8862F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080199" y="395020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الرابط / QR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833311" y="3950208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638751" y="3950208"/>
            <a:ext cx="2212848" cy="777240"/>
          </a:xfrm>
          <a:prstGeom prst="roundRect">
            <a:avLst>
              <a:gd name="adj" fmla="val 14118"/>
            </a:avLst>
          </a:prstGeom>
          <a:solidFill>
            <a:srgbClr val="B8862F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4684471" y="395020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 الضيوف (RSVP)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437583" y="3950208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243023" y="3950208"/>
            <a:ext cx="2212848" cy="777240"/>
          </a:xfrm>
          <a:prstGeom prst="roundRect">
            <a:avLst>
              <a:gd name="adj" fmla="val 14118"/>
            </a:avLst>
          </a:prstGeom>
          <a:solidFill>
            <a:srgbClr val="3D2817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2288743" y="395020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تتابع كل شيء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المميزات الرئيسية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247327" y="141732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056571" y="1668780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056571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338767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50431" y="141732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59675" y="1668780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459675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741871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الضيوف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53535" y="141732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62779" y="1668780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62779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144975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456639" y="141732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65883" y="1668780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265883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1548079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247327" y="3493008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056571" y="3744468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056571" y="374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9338767" y="4727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650431" y="3493008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459675" y="3744468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459675" y="374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6741871" y="4727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الدعوات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053535" y="3493008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62779" y="3744468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862779" y="374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4144975" y="4727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456639" y="3493008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265883" y="3744468"/>
            <a:ext cx="777240" cy="77724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2265883" y="374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548079" y="4727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الذكية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الذكي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الذكية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تساعد المستخدم على بدء تخطيط الفعالية عبر اختيار: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887407" y="1600200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933127" y="16002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الفعالية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94599" y="1600200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0319" y="16002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01791" y="1600200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147511" y="16002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الضيوف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08983" y="1600200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254703" y="16002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المكان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316175" y="1600200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361895" y="16002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القاعة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887407" y="2304288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933127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الديكور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94599" y="2304288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040319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الطعام والمشروبات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01791" y="2304288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147511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التصوير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08983" y="2304288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254703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الترفيه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316175" y="2304288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2361895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الدعوات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887407" y="3008376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933127" y="30083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الكيك والحلويات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994599" y="3008376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040319" y="30083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الزهور والتفاصيل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01791" y="3008376"/>
            <a:ext cx="1755648" cy="566928"/>
          </a:xfrm>
          <a:prstGeom prst="roundRect">
            <a:avLst>
              <a:gd name="adj" fmla="val 48387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147511" y="30083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4617720"/>
            <a:ext cx="9509760" cy="777240"/>
          </a:xfrm>
          <a:prstGeom prst="roundRect">
            <a:avLst>
              <a:gd name="adj" fmla="val 14118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822960" y="4617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الاختيار، يمكن للمستخدم رؤية التكلفة التقديرية ومعرفة ما إذا كانت اختياراته داخل حدود الميزانية أم لا.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532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في النسخة الحالية، الخطة الذكية عبارة عن منطق تخطيط وتوصية داخل الواجهة الأمامية، وليست نموذج ذكاء اصطناعي مستقل.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الفعالية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وإدارة الضيوف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025335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53935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253935" y="2057400"/>
            <a:ext cx="4160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تجمع كل بيانات الفعالية في مكان واحد:</a:t>
            </a:r>
            <a:endParaRPr lang="en-US" sz="135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معلومات الفعالية، الميزانية، الضيوف، المهام، الموردون، الدعوات.</a:t>
            </a:r>
            <a:endParaRPr lang="en-US" sz="1350" dirty="0"/>
          </a:p>
          <a:p>
            <a:pPr marL="0" indent="0" algn="r">
              <a:lnSpc>
                <a:spcPct val="130000"/>
              </a:lnSpc>
              <a:buNone/>
            </a:pPr>
            <a:endParaRPr lang="en-US" sz="135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بدلًا من الدخول إلى كل قسم على حدة، تمنح لوحة التحكم المستخدم نظرة شاملة وسريعة على حالة فعاليته.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الضيوف و RSVP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5740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/ تعديل / حذف الضيوف</a:t>
            </a:r>
            <a:endParaRPr lang="en-US" sz="1350" dirty="0"/>
          </a:p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حالة الرد (RSVP)</a:t>
            </a:r>
            <a:endParaRPr lang="en-US" sz="1350" dirty="0"/>
          </a:p>
          <a:p>
            <a:pPr marL="0" indent="0" algn="r">
              <a:lnSpc>
                <a:spcPct val="140000"/>
              </a:lnSpc>
              <a:buNone/>
            </a:pPr>
            <a:r>
              <a:rPr lang="en-US" sz="13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الضيف لا يحتاج إلى إنشاء حساب للرد على الدعوة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2668" y="484632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2668" y="4846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مؤكد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217420" y="484632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217420" y="4846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ربما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62172" y="484632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662172" y="4846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قادم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التنظيم اليومي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الميزانية والمهام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025335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53935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الميزانية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299655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إضافة مصروف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299655" y="27157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التصنيف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99655" y="32826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المبلغ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299655" y="3849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التاريخ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299655" y="4416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متابعة إجمالي الصرف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253935" y="5166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إضافة، تعديل، حذف، وعرض المصروفات — لحل مشكلة تشتت مصاريف الفعالية.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حجز القاعة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7157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اختيار المصوّر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2826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إرسال الدعوات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849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تأكيد الضيوف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416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تجهيز الديكور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166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يقسّم تجهيز الفعالية إلى خطوات صغيرة، ويمكن للمستخدم متابعة حالة كل مهمة أولًا بأول.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وتواصل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 والدعوات الرقمية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025335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53935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253935" y="2057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يقدر المستخدم يحفظ بيانات مقدمي الخدمات الخاصين بالفعالية، مثل: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334195" y="256032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المصوّر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53935" y="256032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منسّق الديكور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34195" y="297180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الضيافة (Catering)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253935" y="297180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الـ DJ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334195" y="338328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خبيرة المكياج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253935" y="3383280"/>
            <a:ext cx="1988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القاعة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53935" y="4343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المحفوظة: الاسم، الهاتف، السعر، التاريخ، الحالة، ملاحظات.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253935" y="5257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يربط بيانات مقدمي الخدمات بالفعالية نفسها مباشرة.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128016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الدعوات الرقمية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103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رفع تصميم الدعوة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26700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إنشاء رابط عام + رمز QR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2369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مشاركة الدعوة مع الضيوف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8039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الضيف يفتح الدعوة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الضيف يقوم بالـ RSVP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257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الدعوة ليست مجرد صورة، بل نظام دعوة رقمي متكامل.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الجانب التقني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 للنظام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907128" y="123444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907128" y="1234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(الواجهة الأمامية)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907128" y="1801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907128" y="1965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907128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907128" y="25328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07128" y="269748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907128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907128" y="32644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07128" y="342900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07128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907128" y="39959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07128" y="416052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907128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907128" y="47274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07128" y="489204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907128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907128" y="5458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907128" y="56235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907128" y="5623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482535" y="1234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وحدات الباك إند (Modules)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654235" y="1691640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727387" y="1691640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 (Authentication)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82535" y="1691640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555687" y="1691640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 (Events)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654235" y="2258568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727387" y="2258568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(Dashboard)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82535" y="2258568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555687" y="2258568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الضيوف (Guests)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654235" y="2825496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9727387" y="2825496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(Tasks)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482535" y="2825496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555687" y="2825496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 / المصروفات (Budget)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654235" y="3392424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9727387" y="3392424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الدعوات (Invitations)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82535" y="3392424"/>
            <a:ext cx="1988820" cy="457200"/>
          </a:xfrm>
          <a:prstGeom prst="roundRect">
            <a:avLst>
              <a:gd name="adj" fmla="val 16000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7555687" y="3392424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 (Vendors)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482535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Controllers و Routes و Models منفصلة؟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82535" y="457200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3D2817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7711135" y="45720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250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تقسيم الباك إند إلى طبقات منفصلة (Controllers, Routes, Models) للحفاظ على تنظيم الكود وسهولة صيانته وتطويره مستقبلًا.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 والحماية (Authentication)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025335" y="1280160"/>
            <a:ext cx="4617720" cy="4480560"/>
          </a:xfrm>
          <a:prstGeom prst="roundRect">
            <a:avLst>
              <a:gd name="adj" fmla="val 244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53935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(Register)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53935" y="214884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91095" y="21488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 وكلمة المرور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253935" y="26974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53935" y="292608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91095" y="29260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صحة كلمة المرور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253935" y="34747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53935" y="370332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91095" y="3703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كلمة المرور (Hashing)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253935" y="42519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53935" y="4480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91095" y="4480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الحفظ في MongoDB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1280160"/>
            <a:ext cx="4617720" cy="4480560"/>
          </a:xfrm>
          <a:prstGeom prst="roundRect">
            <a:avLst>
              <a:gd name="adj" fmla="val 244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7724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 (Login)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777240" y="214884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14400" y="21488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 + كلمة المرور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26974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7240" y="292608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14400" y="29260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صحة البيانات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4747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77240" y="370332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14400" y="3703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JWT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42519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77240" y="4480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14400" y="4480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موثّقة (Authenticated Requests)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897880"/>
            <a:ext cx="9509760" cy="594360"/>
          </a:xfrm>
          <a:prstGeom prst="roundRect">
            <a:avLst>
              <a:gd name="adj" fmla="val 15385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8978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المسارات المحمية (Protected Routes) تستخدم JWT Authentication.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</a:t>
            </a:r>
            <a:endParaRPr lang="en-US" sz="3000" dirty="0"/>
          </a:p>
        </p:txBody>
      </p:sp>
      <p:pic>
        <p:nvPicPr>
          <p:cNvPr id="5" name="Image 1" descr="e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188720"/>
            <a:ext cx="9326880" cy="4145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البرمجة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نقاط الوصول (APIs)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247327" y="12801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357055" y="1389888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357055" y="13898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357055" y="182880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/api/auth/register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/api/auth/profile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650431" y="12801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60159" y="1389888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760159" y="13898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760159" y="182880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/api/events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/api/events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/api/events/:eventId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4053535" y="12801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63263" y="1389888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163263" y="13898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163263" y="182880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/api/events/:eventId/guests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/api/events/:eventId/guests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.../guests/status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1456639" y="12801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566367" y="1389888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566367" y="13898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566367" y="182880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/api/events/:eventId/tasks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/api/events/:eventId/tasks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/api/tasks/:taskId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9247327" y="3630168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357055" y="3739896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357055" y="37398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357055" y="4178808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/api/budget/:eventId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/api/budget/:eventId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/api/budget/:expenseId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650431" y="3630168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760159" y="3739896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760159" y="37398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INVITATIONS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760159" y="4178808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/api/invitations/:eventId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/api/invitations/:eventId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.../invitations/:eventId</a:t>
            </a:r>
            <a:endParaRPr lang="en-US" sz="830" dirty="0"/>
          </a:p>
        </p:txBody>
      </p:sp>
      <p:sp>
        <p:nvSpPr>
          <p:cNvPr id="29" name="Shape 26"/>
          <p:cNvSpPr/>
          <p:nvPr/>
        </p:nvSpPr>
        <p:spPr>
          <a:xfrm>
            <a:off x="4053535" y="3630168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163263" y="3739896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163263" y="37398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163263" y="4178808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/api/vendors/:eventId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/api/vendors/:eventId</a:t>
            </a:r>
            <a:endParaRPr lang="en-US" sz="8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/api/vendors/vendor/:id</a:t>
            </a:r>
            <a:endParaRPr lang="en-US" sz="830" dirty="0"/>
          </a:p>
        </p:txBody>
      </p:sp>
      <p:sp>
        <p:nvSpPr>
          <p:cNvPr id="33" name="Shape 30"/>
          <p:cNvSpPr/>
          <p:nvPr/>
        </p:nvSpPr>
        <p:spPr>
          <a:xfrm>
            <a:off x="1456639" y="3630168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566367" y="3739896"/>
            <a:ext cx="2176272" cy="365760"/>
          </a:xfrm>
          <a:prstGeom prst="roundRect">
            <a:avLst>
              <a:gd name="adj" fmla="val 15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566367" y="37398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566367" y="4178808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30" dirty="0">
                <a:solidFill>
                  <a:srgbClr val="3D2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/api/events/:eventId/dashboard</a:t>
            </a:r>
            <a:endParaRPr lang="en-US" sz="830" dirty="0"/>
          </a:p>
        </p:txBody>
      </p:sp>
      <p:sp>
        <p:nvSpPr>
          <p:cNvPr id="37" name="Text 34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025335" y="1371600"/>
            <a:ext cx="4617720" cy="4297680"/>
          </a:xfrm>
          <a:prstGeom prst="roundRect">
            <a:avLst>
              <a:gd name="adj" fmla="val 2553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53935" y="1600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الأمامية (Frontend)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471355" y="22402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471355" y="224028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99655" y="22402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299655" y="224028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471355" y="2807208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471355" y="280720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99655" y="2807208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299655" y="280720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471355" y="3374136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471355" y="33741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99655" y="3374136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299655" y="33741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Bootstrap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471355" y="3941064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471355" y="394106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Icons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299655" y="3941064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99655" y="394106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471355" y="4507992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471355" y="4507992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QRCode React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1371600"/>
            <a:ext cx="4617720" cy="4297680"/>
          </a:xfrm>
          <a:prstGeom prst="roundRect">
            <a:avLst>
              <a:gd name="adj" fmla="val 2553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1600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الخلفية (Backend)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2994660" y="22402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2994660" y="224028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22960" y="22402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822960" y="224028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994660" y="2807208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2994660" y="280720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2960" y="2807208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822960" y="280720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994660" y="3374136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2994660" y="33741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22960" y="3374136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822960" y="33741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2994660" y="3941064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2994660" y="394106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22960" y="3941064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822960" y="394106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العمل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المهام على الفريق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522415" y="13716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774375" y="166878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774375" y="16687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05295" y="14813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مريم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6705295" y="1874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الرئيسية، تسجيل الدخول / إنشاء حساب، الخطة الذكية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27455" y="13716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379415" y="166878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379415" y="16687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10335" y="14813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دعاء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1310335" y="1874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الفعالية، فعالياتي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22415" y="2807208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774375" y="3104388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774375" y="31043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705295" y="29169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أحمد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6705295" y="33101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التحكم، الضيوف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127455" y="2807208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379415" y="3104388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379415" y="31043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310335" y="29169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تقي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1310335" y="33101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الميزانية، الدعوات، الدعوة العامة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22415" y="4242816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0774375" y="4539996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10774375" y="45399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705295" y="4352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شهد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6705295" y="47457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7455" y="4242816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379415" y="4539996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379415" y="45399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1310335" y="4352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محمود</a:t>
            </a:r>
            <a:endParaRPr lang="en-US" sz="1550" dirty="0"/>
          </a:p>
        </p:txBody>
      </p:sp>
      <p:sp>
        <p:nvSpPr>
          <p:cNvPr id="34" name="Text 31"/>
          <p:cNvSpPr txBox="1"/>
          <p:nvPr/>
        </p:nvSpPr>
        <p:spPr>
          <a:xfrm>
            <a:off x="1310335" y="47457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الموردون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92608"/>
            <a:ext cx="932688" cy="82296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164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بعد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التطويرات المستقبلية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247327" y="1554480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148011" y="1714500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148011" y="17145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57055" y="24505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توصيات فعاليات مبنية على الذكاء الاصطناعي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50431" y="1554480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51115" y="1714500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551115" y="17145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0159" y="24505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اقتراحات تلقائية للميزانية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053535" y="1554480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54219" y="1714500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54219" y="17145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163263" y="24505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توصية بالموردين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456639" y="1554480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357323" y="1714500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357323" y="17145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66367" y="24505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 الفعالية (Analytics)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247327" y="3355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8011" y="3515868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148011" y="35158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357055" y="4251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إشعارات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50431" y="3355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51115" y="3515868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551115" y="35158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760159" y="4251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تخزين سحابي للصور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053535" y="3355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954219" y="3515868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954219" y="35158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163263" y="4251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النشر (Deployment)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456639" y="3355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F3E7D6"/>
          </a:solidFill>
          <a:ln/>
          <a:effectLst>
            <a:outerShdw blurRad="101600" dist="38100" dir="5400000" algn="bl" rotWithShape="0">
              <a:srgbClr val="3D28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357323" y="3515868"/>
            <a:ext cx="594360" cy="594360"/>
          </a:xfrm>
          <a:prstGeom prst="ellipse">
            <a:avLst/>
          </a:prstGeom>
          <a:solidFill>
            <a:srgbClr val="B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2357323" y="35158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1566367" y="4251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موبايل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2743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926080" y="4846320"/>
            <a:ext cx="5029200" cy="5029200"/>
          </a:xfrm>
          <a:prstGeom prst="ellipse">
            <a:avLst/>
          </a:prstGeom>
          <a:solidFill>
            <a:srgbClr val="3D28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logo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822960"/>
            <a:ext cx="1828800" cy="1618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EVANTA — خططوا بجمال، احتفلوا بالكامل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27448" y="4251960"/>
            <a:ext cx="2743200" cy="0"/>
          </a:xfrm>
          <a:prstGeom prst="line">
            <a:avLst/>
          </a:prstGeom>
          <a:noFill/>
          <a:ln w="1587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606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606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مريم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0342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70342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دعاء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4078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44078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أحمد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814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17814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تقي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1550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91550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شهد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652864" y="452628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3D2817"/>
          </a:solidFill>
          <a:ln w="9525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652864" y="4526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م/ محمود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Widescreen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Toqa Hany</cp:lastModifiedBy>
  <cp:revision>1</cp:revision>
  <dcterms:created xsi:type="dcterms:W3CDTF">2026-09-14T23:47:30Z</dcterms:created>
  <dcterms:modified xsi:type="dcterms:W3CDTF">2026-09-15T09:18:21Z</dcterms:modified>
</cp:coreProperties>
</file>